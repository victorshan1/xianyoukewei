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D2D2D"/>
                </a:solidFill>
                <a:latin typeface="Microsoft YaHei"/>
              </a:defRPr>
            </a:pPr>
            <a:r>
              <a:t>乡村课堂AI助教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6B35"/>
                </a:solidFill>
                <a:latin typeface="Microsoft YaHei"/>
              </a:defRPr>
            </a:pPr>
            <a:r>
              <a:t>让每一位乡村教师都有AI助手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29184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阿里巴巴"小有可为"比赛 — 乡村教育赛道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2D2D2D"/>
                </a:solidFill>
                <a:latin typeface="Microsoft YaHei"/>
              </a:defRPr>
            </a:pPr>
          </a:p>
          <a:p>
            <a:pPr algn="l">
              <a:spcBef>
                <a:spcPts val="1200"/>
              </a:spcBef>
              <a:defRPr sz="1400" b="1">
                <a:solidFill>
                  <a:srgbClr val="FF8C42"/>
                </a:solidFill>
                <a:latin typeface="Microsoft YaHei"/>
              </a:defRPr>
            </a:pPr>
            <a:r>
              <a:t>纯前端 · 离线可用 · 三端协同 · 零部署成本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097280"/>
            <a:ext cx="3840480" cy="5029200"/>
          </a:xfrm>
          <a:prstGeom prst="roundRect">
            <a:avLst/>
          </a:prstGeom>
          <a:solidFill>
            <a:srgbClr val="FFF5F0"/>
          </a:solidFill>
          <a:ln w="12700">
            <a:solidFill>
              <a:srgbClr val="FF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🏫 备课助手 - 乡村课堂AI助教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828800"/>
            <a:ext cx="329184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291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Microsoft YaHei"/>
              </a:defRPr>
            </a:pPr>
            <a:r>
              <a:t>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Microsoft YaHei"/>
              </a:defRPr>
            </a:pPr>
            <a:r>
              <a:t>智能备课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108960"/>
            <a:ext cx="3291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Microsoft YaHei"/>
              </a:defRPr>
            </a:pPr>
            <a:r>
              <a:t>学生画像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114800"/>
            <a:ext cx="3291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Microsoft YaHei"/>
              </a:defRPr>
            </a:pPr>
            <a:r>
              <a:t>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Microsoft YaHei"/>
              </a:defRPr>
            </a:pPr>
            <a:r>
              <a:t>班级总览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126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技术有温度 · 教育无距离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乡村教育的真实困境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2560320" cy="2011680"/>
          </a:xfrm>
          <a:prstGeom prst="roundRect">
            <a:avLst/>
          </a:prstGeom>
          <a:solidFill>
            <a:srgbClr val="FF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35"/>
                </a:solidFill>
                <a:latin typeface="Microsoft YaHei"/>
              </a:defRPr>
            </a:pPr>
            <a:r>
              <a:t>1:40+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Microsoft YaHei"/>
              </a:defRPr>
            </a:pPr>
            <a:r>
              <a:t>乡村师生比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远超城市 1:20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097280"/>
            <a:ext cx="2560320" cy="2011680"/>
          </a:xfrm>
          <a:prstGeom prst="roundRect">
            <a:avLst/>
          </a:prstGeom>
          <a:solidFill>
            <a:srgbClr val="E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2801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35"/>
                </a:solidFill>
                <a:latin typeface="Microsoft YaHei"/>
              </a:defRPr>
            </a:pPr>
            <a:r>
              <a:t>12h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Microsoft YaHei"/>
              </a:defRPr>
            </a:pPr>
            <a:r>
              <a:t>教师周备课时间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是城市的 1.5 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097280"/>
            <a:ext cx="2560320" cy="2011680"/>
          </a:xfrm>
          <a:prstGeom prst="roundRect">
            <a:avLst/>
          </a:prstGeom>
          <a:solidFill>
            <a:srgbClr val="E8F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2801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35"/>
                </a:solidFill>
                <a:latin typeface="Microsoft YaHei"/>
              </a:defRPr>
            </a:pPr>
            <a:r>
              <a:t>67%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Microsoft YaHei"/>
              </a:defRPr>
            </a:pPr>
            <a:r>
              <a:t>学校无心理老师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专业资源严重不足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097280"/>
            <a:ext cx="2560320" cy="2011680"/>
          </a:xfrm>
          <a:prstGeom prst="round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2801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35"/>
                </a:solidFill>
                <a:latin typeface="Microsoft YaHei"/>
              </a:defRPr>
            </a:pPr>
            <a:r>
              <a:t>40%+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Microsoft YaHei"/>
              </a:defRPr>
            </a:pPr>
            <a:r>
              <a:t>留守儿童占比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家庭教育严重缺位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47472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657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D2D2D"/>
                </a:solidFill>
                <a:latin typeface="Microsoft YaHei"/>
              </a:defRPr>
            </a:pPr>
            <a:r>
              <a:t>👩‍🏫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703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Microsoft YaHei"/>
              </a:defRPr>
            </a:pPr>
            <a:r>
              <a:t>教师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4206240"/>
            <a:ext cx="2926080" cy="27432"/>
          </a:xfrm>
          <a:prstGeom prst="rect">
            <a:avLst/>
          </a:prstGeom>
          <a:solidFill>
            <a:srgbClr val="FF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备课负担重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800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因材施教难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212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一人多科多年级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59" y="347472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79" y="3657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D2D2D"/>
                </a:solidFill>
                <a:latin typeface="Microsoft YaHe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5394959" y="3703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Microsoft YaHei"/>
              </a:defRPr>
            </a:pPr>
            <a:r>
              <a:t>学生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79" y="4206240"/>
            <a:ext cx="2926080" cy="27432"/>
          </a:xfrm>
          <a:prstGeom prst="rect">
            <a:avLst/>
          </a:prstGeom>
          <a:solidFill>
            <a:srgbClr val="FF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79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问题无人及时解答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79" y="4800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错题无人整理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79" y="5212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学习信心不足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599" y="347472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19" y="3657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D2D2D"/>
                </a:solidFill>
                <a:latin typeface="Microsoft YaHei"/>
              </a:defRPr>
            </a:pPr>
            <a:r>
              <a:t>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3999" y="3703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Microsoft YaHei"/>
              </a:defRPr>
            </a:pPr>
            <a:r>
              <a:t>家长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19" y="4206240"/>
            <a:ext cx="2926080" cy="27432"/>
          </a:xfrm>
          <a:prstGeom prst="rect">
            <a:avLst/>
          </a:prstGeom>
          <a:solidFill>
            <a:srgbClr val="FF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19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想了解孩子学习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19" y="4800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但看不懂报告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19" y="5212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沟通渠道有限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我们的方案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3/11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Microsoft YaHei"/>
              </a:defRPr>
            </a:pPr>
            <a:r>
              <a:t>一个纯前端的 AI 助教系统，教师、学生、家长三端协同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  <a:latin typeface="Microsoft YaHei"/>
              </a:defRPr>
            </a:pPr>
            <a:r>
              <a:t>核心定位：不是替代老师，而是让老师从重复劳动中解放出来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3474720" cy="4114800"/>
          </a:xfrm>
          <a:prstGeom prst="roundRect">
            <a:avLst/>
          </a:prstGeom>
          <a:solidFill>
            <a:srgbClr val="FFF5F0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423160"/>
            <a:ext cx="33832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D2D2D"/>
                </a:solidFill>
                <a:latin typeface="Microsoft YaHei"/>
              </a:defRPr>
            </a:pPr>
            <a:r>
              <a:t>👩‍🏫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Microsoft YaHei"/>
              </a:defRPr>
            </a:pPr>
            <a:r>
              <a:t>教师端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291840"/>
            <a:ext cx="292608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474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✓ 智能备课（4种模板）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✓ 学生画像（五维雷达图）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72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✓ 班级总览（知识点热力图）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206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✓ 成长轨迹时间轴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2377440"/>
            <a:ext cx="3474720" cy="4114800"/>
          </a:xfrm>
          <a:prstGeom prst="roundRect">
            <a:avLst/>
          </a:prstGeom>
          <a:solidFill>
            <a:srgbClr val="F0FDFB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26279" y="2423160"/>
            <a:ext cx="3383280" cy="5486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D2D2D"/>
                </a:solidFill>
                <a:latin typeface="Microsoft YaHei"/>
              </a:defRPr>
            </a:pPr>
            <a:r>
              <a:t>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59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DC4"/>
                </a:solidFill>
                <a:latin typeface="Microsoft YaHei"/>
              </a:defRPr>
            </a:pPr>
            <a:r>
              <a:t>学生端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79" y="3291840"/>
            <a:ext cx="2926080" cy="2743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79" y="3474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✓ 拍照答疑（分步解析）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✓ 针对性练习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4572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✓ 错题本（自动归类）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51206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✓ 知识点卡片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599" y="2377440"/>
            <a:ext cx="3474720" cy="4114800"/>
          </a:xfrm>
          <a:prstGeom prst="roundRect">
            <a:avLst/>
          </a:prstGeom>
          <a:solidFill>
            <a:srgbClr val="F8F6FF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19" y="2423160"/>
            <a:ext cx="338328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19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D2D2D"/>
                </a:solidFill>
                <a:latin typeface="Microsoft YaHei"/>
              </a:defRPr>
            </a:pPr>
            <a:r>
              <a:t>👨‍👩‍👧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999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  <a:latin typeface="Microsoft YaHei"/>
              </a:defRPr>
            </a:pPr>
            <a:r>
              <a:t>家长端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19" y="3291840"/>
            <a:ext cx="2926080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19" y="3474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✓ 学情报告（周/月）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19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✓ 教师建议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19" y="4572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✓ 成长追踪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19" y="51206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✓ 通俗易懂的可视化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4/11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45720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325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Microsoft YaHei"/>
              </a:defRPr>
            </a:pPr>
            <a:r>
              <a:t>🖥️ 展示层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373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HTML / CSS / JavaScript</a:t>
            </a:r>
            <a:br/>
            <a:r>
              <a:t>ECharts 数据可视化</a:t>
            </a:r>
            <a:br/>
            <a:r>
              <a:t>Font Awesome 图标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834640"/>
            <a:ext cx="45720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2971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DC4"/>
                </a:solidFill>
                <a:latin typeface="Microsoft YaHei"/>
              </a:defRPr>
            </a:pPr>
            <a:r>
              <a:t>️ 逻辑层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3832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路由管理 / 状态管理</a:t>
            </a:r>
            <a:br/>
            <a:r>
              <a:t>IndexedDB 本地存储</a:t>
            </a:r>
            <a:br/>
            <a:r>
              <a:t>Service Worker 离线缓存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480560"/>
            <a:ext cx="45720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617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Microsoft YaHei"/>
              </a:defRPr>
            </a:pPr>
            <a:r>
              <a:t>🤖 AI 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0292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Qwen API 智能生成</a:t>
            </a:r>
            <a:br/>
            <a:r>
              <a:t>自然语言理解</a:t>
            </a:r>
            <a:br/>
            <a:r>
              <a:t>多轮对话能力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1188720"/>
            <a:ext cx="4754880" cy="1188720"/>
          </a:xfrm>
          <a:prstGeom prst="round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2D2D"/>
                </a:solidFill>
                <a:latin typeface="Microsoft YaHe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589520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Microsoft YaHei"/>
              </a:defRPr>
            </a:pPr>
            <a:r>
              <a:t>部署零门槛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16459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一台普通电脑即可运行</a:t>
            </a:r>
            <a:br/>
            <a:r>
              <a:t>无需服务器、无需数据库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2560320"/>
            <a:ext cx="4754880" cy="1188720"/>
          </a:xfrm>
          <a:prstGeom prst="round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2D2D"/>
                </a:solidFill>
                <a:latin typeface="Microsoft YaHei"/>
              </a:defRPr>
            </a:pPr>
            <a:r>
              <a:t>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Microsoft YaHei"/>
              </a:defRPr>
            </a:pPr>
            <a:r>
              <a:t>离线可用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0175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Service Worker 缓存</a:t>
            </a:r>
            <a:br/>
            <a:r>
              <a:t>断网也能访问核心功能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3931920"/>
            <a:ext cx="4754880" cy="1188720"/>
          </a:xfrm>
          <a:prstGeom prst="round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2D2D"/>
                </a:solidFill>
                <a:latin typeface="Microsoft YaHei"/>
              </a:defRPr>
            </a:pPr>
            <a:r>
              <a:t>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023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Microsoft YaHei"/>
              </a:defRPr>
            </a:pPr>
            <a:r>
              <a:t>数据安全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3891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所有数据存储在本地</a:t>
            </a:r>
            <a:br/>
            <a:r>
              <a:t>不上传云端，保护隐私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5303520"/>
            <a:ext cx="4754880" cy="1188720"/>
          </a:xfrm>
          <a:prstGeom prst="round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5394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2D2D"/>
                </a:solidFill>
                <a:latin typeface="Microsoft YaHei"/>
              </a:defRPr>
            </a:pPr>
            <a:r>
              <a:t>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Microsoft YaHei"/>
              </a:defRPr>
            </a:pPr>
            <a:r>
              <a:t>纯前端架构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57607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HTML/CSS/JS + IndexedDB</a:t>
            </a:r>
            <a:br/>
            <a:r>
              <a:t>零后端依赖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核心功能演示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5/11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Microsoft YaHei"/>
              </a:defRPr>
            </a:pPr>
            <a:r>
              <a:t>👩‍🏫 教师端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9144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 4种教案模板一键生成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✏️ 在线富文本编辑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📊 五维雷达图 + 时间轴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🔥 班级知识点热力图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DC4"/>
                </a:solidFill>
                <a:latin typeface="Microsoft YaHei"/>
              </a:defRPr>
            </a:pPr>
            <a:r>
              <a:t> 学生端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508760"/>
            <a:ext cx="91440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737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📷 拍照上传，AI分步解析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240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📇 知识点卡片关联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743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📝 错题本自动归类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246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✅ 标记掌握状态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Microsoft YaHei"/>
              </a:defRPr>
            </a:pPr>
            <a:r>
              <a:t>‍👩‍👧 家长端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508760"/>
            <a:ext cx="91440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737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📋 周/月学情报告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240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💡 教师建议通俗易懂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743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📈 成绩趋势可视化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246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🌟 成长追踪记录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14800"/>
            <a:ext cx="10698480" cy="24688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  <a:latin typeface="Microsoft YaHei"/>
              </a:defRPr>
            </a:pPr>
            <a:r>
              <a:t>📸 此处插入功能截图或动图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300" b="1">
                <a:solidFill>
                  <a:srgbClr val="666666"/>
                </a:solidFill>
                <a:latin typeface="Microsoft YaHei"/>
              </a:defRPr>
            </a:pPr>
            <a:r>
              <a:t>建议截图内容：</a:t>
            </a:r>
          </a:p>
          <a:p>
            <a:pPr algn="ctr">
              <a:spcBef>
                <a:spcPts val="1000"/>
              </a:spcBef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教案生成页面（含模板选择）  ② 学生画像雷达图 + 时间轴  ③ 拍照答疑分步解析</a:t>
            </a:r>
          </a:p>
          <a:p>
            <a:pPr algn="ctr">
              <a:spcBef>
                <a:spcPts val="600"/>
              </a:spcBef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④ 错题本列表   家长端学情报告  ⑥ 离线模式演示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用户故事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6/11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3474720" cy="5303520"/>
          </a:xfrm>
          <a:prstGeom prst="roundRect">
            <a:avLst/>
          </a:prstGeom>
          <a:solidFill>
            <a:srgbClr val="FFF5F0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D2D2D"/>
                </a:solidFill>
                <a:latin typeface="Microsoft YaHei"/>
              </a:defRPr>
            </a:pPr>
            <a:r>
              <a:t>👩‍🏫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Microsoft YaHei"/>
              </a:defRPr>
            </a:pPr>
            <a:r>
              <a:t>李老师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35岁，云南山区村小数学老师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286000"/>
            <a:ext cx="292608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教两个班87个学生，每天备课到深夜。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63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现在30秒生成教案，5分钟编辑完成。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576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备课时间从2小时缩短到30分钟。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097280"/>
            <a:ext cx="3474720" cy="5303520"/>
          </a:xfrm>
          <a:prstGeom prst="roundRect">
            <a:avLst/>
          </a:prstGeom>
          <a:solidFill>
            <a:srgbClr val="F0FDFB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79" y="1280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D2D2D"/>
                </a:solidFill>
                <a:latin typeface="Microsoft YaHei"/>
              </a:defRPr>
            </a:pPr>
            <a:r>
              <a:t>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DC4"/>
                </a:solidFill>
                <a:latin typeface="Microsoft YaHei"/>
              </a:defRPr>
            </a:pPr>
            <a:r>
              <a:t>王小刚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10岁，四年级，父母在外打工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79" y="2286000"/>
            <a:ext cx="2926080" cy="2743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2468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数学基础差，上课不敢问问题。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3063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用拍照答疑 + 错题本，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36576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期中考试从45分提高到68分。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599" y="1097280"/>
            <a:ext cx="3474720" cy="5303520"/>
          </a:xfrm>
          <a:prstGeom prst="roundRect">
            <a:avLst/>
          </a:prstGeom>
          <a:solidFill>
            <a:srgbClr val="F8F6FF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19" y="1280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D2D2D"/>
                </a:solidFill>
                <a:latin typeface="Microsoft YaHe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9143999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Microsoft YaHei"/>
              </a:defRPr>
            </a:pPr>
            <a:r>
              <a:t>小刚奶奶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62岁，只上过小学三年级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19" y="2286000"/>
            <a:ext cx="2926080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19" y="2468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不识字但能看懂报告：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3063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绿色箭头 = 进步，星星 = 表现好。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9" y="36576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每周和孙子一起看报告，心里踏实了。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乡村场景适配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7/11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47472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234440"/>
            <a:ext cx="33832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63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D2D2D"/>
                </a:solidFill>
                <a:latin typeface="Microsoft YaHei"/>
              </a:defRPr>
            </a:pPr>
            <a:r>
              <a:t>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Microsoft YaHei"/>
              </a:defRPr>
            </a:pPr>
            <a:r>
              <a:t>离线能力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03120"/>
            <a:ext cx="292608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Service Worker 缓存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97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教室断网也能用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已生成内容完全离线可查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188720"/>
            <a:ext cx="347472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79" y="1234440"/>
            <a:ext cx="3383280" cy="5486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1463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D2D2D"/>
                </a:solidFill>
                <a:latin typeface="Microsoft YaHei"/>
              </a:defRPr>
            </a:pPr>
            <a:r>
              <a:t>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DC4"/>
                </a:solidFill>
                <a:latin typeface="Microsoft YaHei"/>
              </a:defRPr>
            </a:pPr>
            <a:r>
              <a:t>低带宽优化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79" y="2103120"/>
            <a:ext cx="2926080" cy="2743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纯前端架构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2697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无需下载大型安装包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页面加载轻量快速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599" y="1188720"/>
            <a:ext cx="347472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19" y="1234440"/>
            <a:ext cx="338328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19" y="1463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D2D2D"/>
                </a:solidFill>
                <a:latin typeface="Microsoft YaHei"/>
              </a:defRPr>
            </a:pPr>
            <a:r>
              <a:t>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3999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Microsoft YaHei"/>
              </a:defRPr>
            </a:pPr>
            <a:r>
              <a:t>零部署成本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19" y="2103120"/>
            <a:ext cx="2926080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19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打开浏览器就能用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2697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不需要安装任何软件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9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一台普通电脑即可运行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931920"/>
            <a:ext cx="347472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3977640"/>
            <a:ext cx="338328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D2D2D"/>
                </a:solidFill>
                <a:latin typeface="Microsoft YaHei"/>
              </a:defRPr>
            </a:pPr>
            <a:r>
              <a:t>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Microsoft YaHei"/>
              </a:defRPr>
            </a:pPr>
            <a:r>
              <a:t>数据安全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" y="4846320"/>
            <a:ext cx="2926080" cy="274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所有数据存储在本地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440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不上传云端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852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保护学生隐私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80559" y="3931920"/>
            <a:ext cx="347472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26279" y="3977640"/>
            <a:ext cx="3383280" cy="5486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79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D2D2D"/>
                </a:solidFill>
                <a:latin typeface="Microsoft YaHei"/>
              </a:defRPr>
            </a:pPr>
            <a:r>
              <a:t>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59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DC4"/>
                </a:solidFill>
                <a:latin typeface="Microsoft YaHei"/>
              </a:defRPr>
            </a:pPr>
            <a:r>
              <a:t>大字体模式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79" y="4846320"/>
            <a:ext cx="2926080" cy="2743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79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适配乡村老年教师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79" y="5440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清晰易读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79" y="5852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降低使用门槛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效果对比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8/11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2240280" cy="5486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188720"/>
            <a:ext cx="3154680" cy="5486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234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使用前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3154680" cy="5486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34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使用后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188720"/>
            <a:ext cx="2240280" cy="5486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1234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提升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828800"/>
            <a:ext cx="2240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87451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Microsoft YaHei"/>
              </a:defRPr>
            </a:pPr>
            <a:r>
              <a:t>备课时间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1828800"/>
            <a:ext cx="31546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1874519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2小时/课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828800"/>
            <a:ext cx="31546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874519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ECDC4"/>
                </a:solidFill>
                <a:latin typeface="Microsoft YaHei"/>
              </a:defRPr>
            </a:pPr>
            <a:r>
              <a:t>30分钟/课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1828800"/>
            <a:ext cx="2240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187451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6B35"/>
                </a:solidFill>
                <a:latin typeface="Microsoft YaHei"/>
              </a:defRPr>
            </a:pPr>
            <a:r>
              <a:t>⬇ 75%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514600"/>
            <a:ext cx="2240280" cy="594360"/>
          </a:xfrm>
          <a:prstGeom prst="round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56031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Microsoft YaHei"/>
              </a:defRPr>
            </a:pPr>
            <a:r>
              <a:t>学生问题响应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7520" y="2514600"/>
            <a:ext cx="3154680" cy="594360"/>
          </a:xfrm>
          <a:prstGeom prst="round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2560319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次日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514600"/>
            <a:ext cx="3154680" cy="594360"/>
          </a:xfrm>
          <a:prstGeom prst="round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560319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ECDC4"/>
                </a:solidFill>
                <a:latin typeface="Microsoft YaHei"/>
              </a:defRPr>
            </a:pPr>
            <a:r>
              <a:t>即时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20" y="2514600"/>
            <a:ext cx="2240280" cy="594360"/>
          </a:xfrm>
          <a:prstGeom prst="round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0" y="256031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6B35"/>
                </a:solidFill>
                <a:latin typeface="Microsoft YaHei"/>
              </a:defRPr>
            </a:pPr>
            <a:r>
              <a:t>⚡ 即时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200400"/>
            <a:ext cx="2240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24611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Microsoft YaHei"/>
              </a:defRPr>
            </a:pPr>
            <a:r>
              <a:t>家长了解学情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3200400"/>
            <a:ext cx="31546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0" y="3246119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家长会(1-2次/学期)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200400"/>
            <a:ext cx="31546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246119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ECDC4"/>
                </a:solidFill>
                <a:latin typeface="Microsoft YaHei"/>
              </a:defRPr>
            </a:pPr>
            <a:r>
              <a:t>随时查看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18320" y="3200400"/>
            <a:ext cx="2240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0" y="324611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6B35"/>
                </a:solidFill>
                <a:latin typeface="Microsoft YaHei"/>
              </a:defRPr>
            </a:pPr>
            <a:r>
              <a:t>📱 随时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3886200"/>
            <a:ext cx="2240280" cy="594360"/>
          </a:xfrm>
          <a:prstGeom prst="round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393191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Microsoft YaHei"/>
              </a:defRPr>
            </a:pPr>
            <a:r>
              <a:t>错题整理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17520" y="3886200"/>
            <a:ext cx="3154680" cy="594360"/>
          </a:xfrm>
          <a:prstGeom prst="round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08960" y="3931919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手动抄写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3886200"/>
            <a:ext cx="3154680" cy="594360"/>
          </a:xfrm>
          <a:prstGeom prst="round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3931919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ECDC4"/>
                </a:solidFill>
                <a:latin typeface="Microsoft YaHei"/>
              </a:defRPr>
            </a:pPr>
            <a:r>
              <a:t>自动归类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18320" y="3886200"/>
            <a:ext cx="2240280" cy="594360"/>
          </a:xfrm>
          <a:prstGeom prst="round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0" y="393191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6B35"/>
                </a:solidFill>
                <a:latin typeface="Microsoft YaHei"/>
              </a:defRPr>
            </a:pPr>
            <a:r>
              <a:t> 自动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4572000"/>
            <a:ext cx="2240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61771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Microsoft YaHei"/>
              </a:defRPr>
            </a:pPr>
            <a:r>
              <a:t>因材施教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17520" y="4572000"/>
            <a:ext cx="31546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08960" y="4617719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凭经验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4572000"/>
            <a:ext cx="31546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4617719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ECDC4"/>
                </a:solidFill>
                <a:latin typeface="Microsoft YaHei"/>
              </a:defRPr>
            </a:pPr>
            <a:r>
              <a:t>数据驱动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18320" y="4572000"/>
            <a:ext cx="22402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9760" y="461771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6B35"/>
                </a:solidFill>
                <a:latin typeface="Microsoft YaHei"/>
              </a:defRPr>
            </a:pPr>
            <a:r>
              <a:t>📊 精准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项目亮点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9/11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256032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234440"/>
            <a:ext cx="2468880" cy="1371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真场景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深入理解乡村教育痛点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不是城市方案的简单移植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从真实需求出发设计功能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188720"/>
            <a:ext cx="256032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1234440"/>
            <a:ext cx="2468880" cy="137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1371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真可用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纯前端 + 离线能力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一台电脑就能跑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023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零部署、零维护成本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188720"/>
            <a:ext cx="256032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1234440"/>
            <a:ext cx="2468880" cy="13716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371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真闭环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教师→学生→家长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三端数据互通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023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完整的教育服务链路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1188720"/>
            <a:ext cx="256032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81160" y="1234440"/>
            <a:ext cx="2468880" cy="1371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0" y="1371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Microsoft YaHei"/>
              </a:defRPr>
            </a:pPr>
            <a:r>
              <a:t>❤️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真温度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UI设计温暖克制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不炫技，重实用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4023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每个功能都有人文关怀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未来展望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10/11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3035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D2D2D"/>
                </a:solidFill>
                <a:latin typeface="Microsoft YaHei"/>
              </a:defRPr>
            </a:pPr>
            <a:r>
              <a:t>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08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Microsoft YaHei"/>
              </a:defRPr>
            </a:pPr>
            <a:r>
              <a:t>方言语音答疑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103120"/>
            <a:ext cx="475488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乡村学生普通话不标准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97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支持方言识别，降低使用门槛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188720"/>
            <a:ext cx="53035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D2D2D"/>
                </a:solidFill>
                <a:latin typeface="Microsoft YaHe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406640" y="1508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DC4"/>
                </a:solidFill>
                <a:latin typeface="Microsoft YaHei"/>
              </a:defRPr>
            </a:pPr>
            <a:r>
              <a:t>教师社区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103120"/>
            <a:ext cx="4754880" cy="2743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286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教案共享，经验交流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97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让优秀教学资源流动起来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49040"/>
            <a:ext cx="53035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023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D2D2D"/>
                </a:solidFill>
                <a:latin typeface="Microsoft YaHei"/>
              </a:defRPr>
            </a:pPr>
            <a: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069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Microsoft YaHei"/>
              </a:defRPr>
            </a:pPr>
            <a:r>
              <a:t>自适应学习路径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663440"/>
            <a:ext cx="4754880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846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根据学生画像智能推荐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57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个性化学习内容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749040"/>
            <a:ext cx="53035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023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D2D2D"/>
                </a:solidFill>
                <a:latin typeface="Microsoft YaHei"/>
              </a:defRPr>
            </a:pPr>
            <a:r>
              <a:t>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069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42"/>
                </a:solidFill>
                <a:latin typeface="Microsoft YaHei"/>
              </a:defRPr>
            </a:pPr>
            <a:r>
              <a:t>系统对接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4663440"/>
            <a:ext cx="4754880" cy="274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846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与学校现有系统对接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257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成绩导入、课表同步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D2D2D"/>
                </a:solidFill>
                <a:latin typeface="Microsoft YaHei"/>
              </a:defRPr>
            </a:pPr>
            <a:r>
              <a:t>感谢观看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926080"/>
            <a:ext cx="210312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6B35"/>
                </a:solidFill>
                <a:latin typeface="Microsoft YaHei"/>
              </a:defRPr>
            </a:pPr>
            <a:r>
              <a:t>技术有温度 · 教育无距离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感谢阿里巴巴"小有可为"比赛提供平台</a:t>
            </a:r>
          </a:p>
          <a:p>
            <a:pPr algn="ctr">
              <a:spcBef>
                <a:spcPts val="1000"/>
              </a:spcBef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感谢乡村教师的坚守与付出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2D2D2D"/>
                </a:solidFill>
                <a:latin typeface="Microsoft YaHei"/>
              </a:defRPr>
            </a:pPr>
          </a:p>
          <a:p>
            <a:pPr algn="ctr">
              <a:spcBef>
                <a:spcPts val="2000"/>
              </a:spcBef>
              <a:defRPr sz="2000" b="1">
                <a:solidFill>
                  <a:srgbClr val="FF6B35"/>
                </a:solidFill>
                <a:latin typeface="Microsoft YaHei"/>
              </a:defRPr>
            </a:pPr>
            <a:r>
              <a:t>乡村课堂AI助教</a:t>
            </a:r>
          </a:p>
          <a:p>
            <a:pPr algn="ctr">
              <a:spcBef>
                <a:spcPts val="800"/>
              </a:spcBef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让每一位乡村教师都有AI助手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